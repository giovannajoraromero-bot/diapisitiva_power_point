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6FA04"/>
    <a:srgbClr val="32D8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41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93F16D-E30D-40AF-82C5-6A1EFF521791}" type="datetimeFigureOut">
              <a:rPr lang="es-ES" smtClean="0"/>
              <a:t>25/05/2026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BO" dirty="0"/>
              <a:t>R</a:t>
            </a:r>
            <a:r>
              <a:rPr lang="es-ES" dirty="0" err="1"/>
              <a:t>ecordar</a:t>
            </a:r>
            <a:r>
              <a:rPr lang="es-ES" dirty="0"/>
              <a:t> al cliente que el tiempo de respuesta para soporte crítico en </a:t>
            </a:r>
            <a:r>
              <a:rPr lang="es-ES" dirty="0" err="1"/>
              <a:t>servdores</a:t>
            </a:r>
            <a:r>
              <a:rPr lang="es-ES" dirty="0"/>
              <a:t> es menor a dos horas.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55B18-23DB-4418-A467-F96F378AD79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61050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55B18-23DB-4418-A467-F96F378AD791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180987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BO" dirty="0"/>
              <a:t>Recordar  al cliente que el tiempo de respuesta para soporte crítico  en servidores es menor a 2 horas.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55B18-23DB-4418-A467-F96F378AD791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59282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EC4BB-8172-4F9D-BD95-A0C71EAB79E1}" type="datetimeFigureOut">
              <a:rPr lang="es-ES" smtClean="0"/>
              <a:t>25/05/2026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FB941-F830-4861-B34A-595B84C18DF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63883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EC4BB-8172-4F9D-BD95-A0C71EAB79E1}" type="datetimeFigureOut">
              <a:rPr lang="es-ES" smtClean="0"/>
              <a:t>25/05/2026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FB941-F830-4861-B34A-595B84C18DF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07086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EC4BB-8172-4F9D-BD95-A0C71EAB79E1}" type="datetimeFigureOut">
              <a:rPr lang="es-ES" smtClean="0"/>
              <a:t>25/05/2026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FB941-F830-4861-B34A-595B84C18DF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50425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EC4BB-8172-4F9D-BD95-A0C71EAB79E1}" type="datetimeFigureOut">
              <a:rPr lang="es-ES" smtClean="0"/>
              <a:t>25/05/2026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FB941-F830-4861-B34A-595B84C18DF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38259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EC4BB-8172-4F9D-BD95-A0C71EAB79E1}" type="datetimeFigureOut">
              <a:rPr lang="es-ES" smtClean="0"/>
              <a:t>25/05/2026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FB941-F830-4861-B34A-595B84C18DF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67864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EC4BB-8172-4F9D-BD95-A0C71EAB79E1}" type="datetimeFigureOut">
              <a:rPr lang="es-ES" smtClean="0"/>
              <a:t>25/05/2026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FB941-F830-4861-B34A-595B84C18DF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97193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EC4BB-8172-4F9D-BD95-A0C71EAB79E1}" type="datetimeFigureOut">
              <a:rPr lang="es-ES" smtClean="0"/>
              <a:t>25/05/2026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FB941-F830-4861-B34A-595B84C18DF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24303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EC4BB-8172-4F9D-BD95-A0C71EAB79E1}" type="datetimeFigureOut">
              <a:rPr lang="es-ES" smtClean="0"/>
              <a:t>25/05/2026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FB941-F830-4861-B34A-595B84C18DF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25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EC4BB-8172-4F9D-BD95-A0C71EAB79E1}" type="datetimeFigureOut">
              <a:rPr lang="es-ES" smtClean="0"/>
              <a:t>25/05/2026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FB941-F830-4861-B34A-595B84C18DF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92328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EC4BB-8172-4F9D-BD95-A0C71EAB79E1}" type="datetimeFigureOut">
              <a:rPr lang="es-ES" smtClean="0"/>
              <a:t>25/05/2026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FB941-F830-4861-B34A-595B84C18DF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45935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EC4BB-8172-4F9D-BD95-A0C71EAB79E1}" type="datetimeFigureOut">
              <a:rPr lang="es-ES" smtClean="0"/>
              <a:t>25/05/2026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FB941-F830-4861-B34A-595B84C18DF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72812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1EC4BB-8172-4F9D-BD95-A0C71EAB79E1}" type="datetimeFigureOut">
              <a:rPr lang="es-ES" smtClean="0"/>
              <a:t>25/05/2026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6FB941-F830-4861-B34A-595B84C18DF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999223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Libro1!Hoja1!F2C2:F5C4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192966-95A7-E93F-FAB2-76598944B6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9086" y="811762"/>
            <a:ext cx="10375641" cy="3060441"/>
          </a:xfrm>
        </p:spPr>
        <p:txBody>
          <a:bodyPr>
            <a:normAutofit/>
          </a:bodyPr>
          <a:lstStyle/>
          <a:p>
            <a:r>
              <a:rPr lang="es-BO" dirty="0">
                <a:solidFill>
                  <a:srgbClr val="56FA04"/>
                </a:solidFill>
                <a:latin typeface="Bauhaus 93" panose="04030905020B02020C02" pitchFamily="82" charset="0"/>
              </a:rPr>
              <a:t>TECH SOLUTIONS INFRAESTRUCTURA Y SOFTWARE</a:t>
            </a:r>
            <a:endParaRPr lang="es-ES" dirty="0">
              <a:solidFill>
                <a:srgbClr val="56FA04"/>
              </a:solidFill>
              <a:latin typeface="Bauhaus 93" panose="04030905020B02020C02" pitchFamily="82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47B5D46-F67A-71F2-D3CD-E51BBCE9C1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7478"/>
            <a:ext cx="9144000" cy="1716832"/>
          </a:xfrm>
        </p:spPr>
        <p:txBody>
          <a:bodyPr>
            <a:normAutofit/>
          </a:bodyPr>
          <a:lstStyle/>
          <a:p>
            <a:r>
              <a:rPr lang="es-BO" sz="3600" dirty="0">
                <a:latin typeface="Algerian" panose="04020705040A02060702" pitchFamily="82" charset="0"/>
              </a:rPr>
              <a:t>SOPORTE TÉCNICO, REDES ESTRUCTURADAS Y DESARROLLO WEB </a:t>
            </a:r>
            <a:endParaRPr lang="es-ES" sz="36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14581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5DBFFF-31BE-27CC-9689-33764A431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BO" sz="5400" dirty="0">
                <a:solidFill>
                  <a:srgbClr val="56FA04"/>
                </a:solidFill>
                <a:latin typeface="Algerian" panose="04020705040A02060702" pitchFamily="82" charset="0"/>
              </a:rPr>
              <a:t>NUESTRAS ESPECIALIDADES</a:t>
            </a:r>
            <a:endParaRPr lang="es-ES" sz="5400" dirty="0">
              <a:solidFill>
                <a:srgbClr val="56FA04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2F6D8DC-3032-618E-36D7-1A97FAB7A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r>
              <a:rPr lang="es-BO" sz="3200" dirty="0"/>
              <a:t>1. Cableado estructurado de redes.</a:t>
            </a:r>
          </a:p>
          <a:p>
            <a:r>
              <a:rPr lang="es-BO" sz="3200" dirty="0"/>
              <a:t>2. Mantenimiento preventivo y</a:t>
            </a:r>
          </a:p>
          <a:p>
            <a:r>
              <a:rPr lang="es-BO" sz="3200" dirty="0"/>
              <a:t> correctivo.</a:t>
            </a:r>
          </a:p>
          <a:p>
            <a:r>
              <a:rPr lang="es-BO" sz="3200" dirty="0"/>
              <a:t>3. Desarrollo de sistemas web.</a:t>
            </a:r>
            <a:endParaRPr lang="es-ES" sz="3200" dirty="0"/>
          </a:p>
        </p:txBody>
      </p:sp>
      <p:pic>
        <p:nvPicPr>
          <p:cNvPr id="1026" name="Picture 2" descr="Brett Sayles">
            <a:extLst>
              <a:ext uri="{FF2B5EF4-FFF2-40B4-BE49-F238E27FC236}">
                <a16:creationId xmlns:a16="http://schemas.microsoft.com/office/drawing/2014/main" id="{A447FFC9-957C-FC64-FFC7-09FA8DBB9F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3280" y="1825625"/>
            <a:ext cx="455453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37179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6738F3-66F6-AF8A-4348-7D04283F0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s-BO" sz="5400" dirty="0">
                <a:solidFill>
                  <a:srgbClr val="56FA04"/>
                </a:solidFill>
                <a:latin typeface="Algerian" panose="04020705040A02060702" pitchFamily="82" charset="0"/>
              </a:rPr>
              <a:t>SEGURIDAD E INTERCONEXIÓN DE SERVIDORES</a:t>
            </a:r>
            <a:endParaRPr lang="es-ES" sz="5400" dirty="0">
              <a:solidFill>
                <a:srgbClr val="56FA04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834A34-B897-1B3C-F860-6D1AED7AB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es-BO" dirty="0"/>
              <a:t>La empresa brinda lo siguiente:</a:t>
            </a:r>
          </a:p>
          <a:p>
            <a:r>
              <a:rPr lang="es-BO" dirty="0"/>
              <a:t>Interconexión multi-nube.</a:t>
            </a:r>
          </a:p>
          <a:p>
            <a:r>
              <a:rPr lang="es-BO" dirty="0"/>
              <a:t>Sistemas de ciberseguridad.</a:t>
            </a:r>
          </a:p>
          <a:p>
            <a:r>
              <a:rPr lang="es-BO" dirty="0"/>
              <a:t>Asegura la continuidad operativa.</a:t>
            </a:r>
          </a:p>
          <a:p>
            <a:r>
              <a:rPr lang="es-BO" dirty="0"/>
              <a:t>Escalabilidad Saas.</a:t>
            </a:r>
          </a:p>
          <a:p>
            <a:r>
              <a:rPr lang="es-BO" dirty="0"/>
              <a:t>Redes seguras.</a:t>
            </a:r>
          </a:p>
          <a:p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E72A5EA-FFEF-6CEA-F9F2-9B1B3C9A55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4807" y="2056765"/>
            <a:ext cx="5000625" cy="3333750"/>
          </a:xfrm>
          <a:prstGeom prst="rect">
            <a:avLst/>
          </a:prstGeom>
        </p:spPr>
      </p:pic>
      <p:sp useBgFill="1">
        <p:nvSpPr>
          <p:cNvPr id="9" name="Rectángulo 8">
            <a:extLst>
              <a:ext uri="{FF2B5EF4-FFF2-40B4-BE49-F238E27FC236}">
                <a16:creationId xmlns:a16="http://schemas.microsoft.com/office/drawing/2014/main" id="{CF08AFB6-1B2A-6FC6-D701-9BAA53864E8A}"/>
              </a:ext>
            </a:extLst>
          </p:cNvPr>
          <p:cNvSpPr/>
          <p:nvPr/>
        </p:nvSpPr>
        <p:spPr bwMode="white">
          <a:xfrm>
            <a:off x="10300910" y="-80451"/>
            <a:ext cx="1891090" cy="6967051"/>
          </a:xfrm>
          <a:custGeom>
            <a:avLst/>
            <a:gdLst>
              <a:gd name="connsiteX0" fmla="*/ 0 w 2753360"/>
              <a:gd name="connsiteY0" fmla="*/ 0 h 6929120"/>
              <a:gd name="connsiteX1" fmla="*/ 2753360 w 2753360"/>
              <a:gd name="connsiteY1" fmla="*/ 0 h 6929120"/>
              <a:gd name="connsiteX2" fmla="*/ 2753360 w 2753360"/>
              <a:gd name="connsiteY2" fmla="*/ 6929120 h 6929120"/>
              <a:gd name="connsiteX3" fmla="*/ 0 w 2753360"/>
              <a:gd name="connsiteY3" fmla="*/ 6929120 h 6929120"/>
              <a:gd name="connsiteX4" fmla="*/ 0 w 2753360"/>
              <a:gd name="connsiteY4" fmla="*/ 0 h 6929120"/>
              <a:gd name="connsiteX0" fmla="*/ 2345635 w 2753360"/>
              <a:gd name="connsiteY0" fmla="*/ 29817 h 6929120"/>
              <a:gd name="connsiteX1" fmla="*/ 2753360 w 2753360"/>
              <a:gd name="connsiteY1" fmla="*/ 0 h 6929120"/>
              <a:gd name="connsiteX2" fmla="*/ 2753360 w 2753360"/>
              <a:gd name="connsiteY2" fmla="*/ 6929120 h 6929120"/>
              <a:gd name="connsiteX3" fmla="*/ 0 w 2753360"/>
              <a:gd name="connsiteY3" fmla="*/ 6929120 h 6929120"/>
              <a:gd name="connsiteX4" fmla="*/ 2345635 w 2753360"/>
              <a:gd name="connsiteY4" fmla="*/ 29817 h 6929120"/>
              <a:gd name="connsiteX0" fmla="*/ 1659835 w 2067560"/>
              <a:gd name="connsiteY0" fmla="*/ 29817 h 6939059"/>
              <a:gd name="connsiteX1" fmla="*/ 2067560 w 2067560"/>
              <a:gd name="connsiteY1" fmla="*/ 0 h 6939059"/>
              <a:gd name="connsiteX2" fmla="*/ 2067560 w 2067560"/>
              <a:gd name="connsiteY2" fmla="*/ 6929120 h 6939059"/>
              <a:gd name="connsiteX3" fmla="*/ 0 w 2067560"/>
              <a:gd name="connsiteY3" fmla="*/ 6939059 h 6939059"/>
              <a:gd name="connsiteX4" fmla="*/ 1659835 w 2067560"/>
              <a:gd name="connsiteY4" fmla="*/ 29817 h 6939059"/>
              <a:gd name="connsiteX0" fmla="*/ 1520687 w 1928412"/>
              <a:gd name="connsiteY0" fmla="*/ 29817 h 6939059"/>
              <a:gd name="connsiteX1" fmla="*/ 1928412 w 1928412"/>
              <a:gd name="connsiteY1" fmla="*/ 0 h 6939059"/>
              <a:gd name="connsiteX2" fmla="*/ 1928412 w 1928412"/>
              <a:gd name="connsiteY2" fmla="*/ 6929120 h 6939059"/>
              <a:gd name="connsiteX3" fmla="*/ 0 w 1928412"/>
              <a:gd name="connsiteY3" fmla="*/ 6939059 h 6939059"/>
              <a:gd name="connsiteX4" fmla="*/ 1520687 w 1928412"/>
              <a:gd name="connsiteY4" fmla="*/ 29817 h 6939059"/>
              <a:gd name="connsiteX0" fmla="*/ 279716 w 1928412"/>
              <a:gd name="connsiteY0" fmla="*/ 95132 h 6939059"/>
              <a:gd name="connsiteX1" fmla="*/ 1928412 w 1928412"/>
              <a:gd name="connsiteY1" fmla="*/ 0 h 6939059"/>
              <a:gd name="connsiteX2" fmla="*/ 1928412 w 1928412"/>
              <a:gd name="connsiteY2" fmla="*/ 6929120 h 6939059"/>
              <a:gd name="connsiteX3" fmla="*/ 0 w 1928412"/>
              <a:gd name="connsiteY3" fmla="*/ 6939059 h 6939059"/>
              <a:gd name="connsiteX4" fmla="*/ 279716 w 1928412"/>
              <a:gd name="connsiteY4" fmla="*/ 95132 h 6939059"/>
              <a:gd name="connsiteX0" fmla="*/ 65112 w 1713808"/>
              <a:gd name="connsiteY0" fmla="*/ 95132 h 6976381"/>
              <a:gd name="connsiteX1" fmla="*/ 1713808 w 1713808"/>
              <a:gd name="connsiteY1" fmla="*/ 0 h 6976381"/>
              <a:gd name="connsiteX2" fmla="*/ 1713808 w 1713808"/>
              <a:gd name="connsiteY2" fmla="*/ 6929120 h 6976381"/>
              <a:gd name="connsiteX3" fmla="*/ 0 w 1713808"/>
              <a:gd name="connsiteY3" fmla="*/ 6976381 h 6976381"/>
              <a:gd name="connsiteX4" fmla="*/ 65112 w 1713808"/>
              <a:gd name="connsiteY4" fmla="*/ 95132 h 6976381"/>
              <a:gd name="connsiteX0" fmla="*/ 242394 w 1891090"/>
              <a:gd name="connsiteY0" fmla="*/ 95132 h 6967051"/>
              <a:gd name="connsiteX1" fmla="*/ 1891090 w 1891090"/>
              <a:gd name="connsiteY1" fmla="*/ 0 h 6967051"/>
              <a:gd name="connsiteX2" fmla="*/ 1891090 w 1891090"/>
              <a:gd name="connsiteY2" fmla="*/ 6929120 h 6967051"/>
              <a:gd name="connsiteX3" fmla="*/ 0 w 1891090"/>
              <a:gd name="connsiteY3" fmla="*/ 6967051 h 6967051"/>
              <a:gd name="connsiteX4" fmla="*/ 242394 w 1891090"/>
              <a:gd name="connsiteY4" fmla="*/ 95132 h 6967051"/>
              <a:gd name="connsiteX0" fmla="*/ 121096 w 1891090"/>
              <a:gd name="connsiteY0" fmla="*/ 95132 h 6967051"/>
              <a:gd name="connsiteX1" fmla="*/ 1891090 w 1891090"/>
              <a:gd name="connsiteY1" fmla="*/ 0 h 6967051"/>
              <a:gd name="connsiteX2" fmla="*/ 1891090 w 1891090"/>
              <a:gd name="connsiteY2" fmla="*/ 6929120 h 6967051"/>
              <a:gd name="connsiteX3" fmla="*/ 0 w 1891090"/>
              <a:gd name="connsiteY3" fmla="*/ 6967051 h 6967051"/>
              <a:gd name="connsiteX4" fmla="*/ 121096 w 1891090"/>
              <a:gd name="connsiteY4" fmla="*/ 95132 h 6967051"/>
              <a:gd name="connsiteX0" fmla="*/ 121096 w 1891090"/>
              <a:gd name="connsiteY0" fmla="*/ 95132 h 6967051"/>
              <a:gd name="connsiteX1" fmla="*/ 1891090 w 1891090"/>
              <a:gd name="connsiteY1" fmla="*/ 0 h 6967051"/>
              <a:gd name="connsiteX2" fmla="*/ 1891090 w 1891090"/>
              <a:gd name="connsiteY2" fmla="*/ 6929120 h 6967051"/>
              <a:gd name="connsiteX3" fmla="*/ 0 w 1891090"/>
              <a:gd name="connsiteY3" fmla="*/ 6967051 h 6967051"/>
              <a:gd name="connsiteX4" fmla="*/ 121096 w 1891090"/>
              <a:gd name="connsiteY4" fmla="*/ 95132 h 6967051"/>
              <a:gd name="connsiteX0" fmla="*/ 233063 w 1891090"/>
              <a:gd name="connsiteY0" fmla="*/ 95132 h 6967051"/>
              <a:gd name="connsiteX1" fmla="*/ 1891090 w 1891090"/>
              <a:gd name="connsiteY1" fmla="*/ 0 h 6967051"/>
              <a:gd name="connsiteX2" fmla="*/ 1891090 w 1891090"/>
              <a:gd name="connsiteY2" fmla="*/ 6929120 h 6967051"/>
              <a:gd name="connsiteX3" fmla="*/ 0 w 1891090"/>
              <a:gd name="connsiteY3" fmla="*/ 6967051 h 6967051"/>
              <a:gd name="connsiteX4" fmla="*/ 233063 w 1891090"/>
              <a:gd name="connsiteY4" fmla="*/ 95132 h 6967051"/>
              <a:gd name="connsiteX0" fmla="*/ 130427 w 1891090"/>
              <a:gd name="connsiteY0" fmla="*/ 95132 h 6967051"/>
              <a:gd name="connsiteX1" fmla="*/ 1891090 w 1891090"/>
              <a:gd name="connsiteY1" fmla="*/ 0 h 6967051"/>
              <a:gd name="connsiteX2" fmla="*/ 1891090 w 1891090"/>
              <a:gd name="connsiteY2" fmla="*/ 6929120 h 6967051"/>
              <a:gd name="connsiteX3" fmla="*/ 0 w 1891090"/>
              <a:gd name="connsiteY3" fmla="*/ 6967051 h 6967051"/>
              <a:gd name="connsiteX4" fmla="*/ 130427 w 1891090"/>
              <a:gd name="connsiteY4" fmla="*/ 95132 h 6967051"/>
              <a:gd name="connsiteX0" fmla="*/ 130427 w 1891090"/>
              <a:gd name="connsiteY0" fmla="*/ 95132 h 6967051"/>
              <a:gd name="connsiteX1" fmla="*/ 1891090 w 1891090"/>
              <a:gd name="connsiteY1" fmla="*/ 0 h 6967051"/>
              <a:gd name="connsiteX2" fmla="*/ 1891090 w 1891090"/>
              <a:gd name="connsiteY2" fmla="*/ 6929120 h 6967051"/>
              <a:gd name="connsiteX3" fmla="*/ 0 w 1891090"/>
              <a:gd name="connsiteY3" fmla="*/ 6967051 h 6967051"/>
              <a:gd name="connsiteX4" fmla="*/ 130427 w 1891090"/>
              <a:gd name="connsiteY4" fmla="*/ 95132 h 6967051"/>
              <a:gd name="connsiteX0" fmla="*/ 130427 w 1891090"/>
              <a:gd name="connsiteY0" fmla="*/ 95132 h 6967051"/>
              <a:gd name="connsiteX1" fmla="*/ 1891090 w 1891090"/>
              <a:gd name="connsiteY1" fmla="*/ 0 h 6967051"/>
              <a:gd name="connsiteX2" fmla="*/ 1891090 w 1891090"/>
              <a:gd name="connsiteY2" fmla="*/ 6929120 h 6967051"/>
              <a:gd name="connsiteX3" fmla="*/ 0 w 1891090"/>
              <a:gd name="connsiteY3" fmla="*/ 6967051 h 6967051"/>
              <a:gd name="connsiteX4" fmla="*/ 130427 w 1891090"/>
              <a:gd name="connsiteY4" fmla="*/ 95132 h 6967051"/>
              <a:gd name="connsiteX0" fmla="*/ 24698 w 1906658"/>
              <a:gd name="connsiteY0" fmla="*/ 67140 h 6967051"/>
              <a:gd name="connsiteX1" fmla="*/ 1906658 w 1906658"/>
              <a:gd name="connsiteY1" fmla="*/ 0 h 6967051"/>
              <a:gd name="connsiteX2" fmla="*/ 1906658 w 1906658"/>
              <a:gd name="connsiteY2" fmla="*/ 6929120 h 6967051"/>
              <a:gd name="connsiteX3" fmla="*/ 15568 w 1906658"/>
              <a:gd name="connsiteY3" fmla="*/ 6967051 h 6967051"/>
              <a:gd name="connsiteX4" fmla="*/ 24698 w 1906658"/>
              <a:gd name="connsiteY4" fmla="*/ 67140 h 6967051"/>
              <a:gd name="connsiteX0" fmla="*/ 9130 w 1891090"/>
              <a:gd name="connsiteY0" fmla="*/ 67140 h 6967051"/>
              <a:gd name="connsiteX1" fmla="*/ 1891090 w 1891090"/>
              <a:gd name="connsiteY1" fmla="*/ 0 h 6967051"/>
              <a:gd name="connsiteX2" fmla="*/ 1891090 w 1891090"/>
              <a:gd name="connsiteY2" fmla="*/ 6929120 h 6967051"/>
              <a:gd name="connsiteX3" fmla="*/ 0 w 1891090"/>
              <a:gd name="connsiteY3" fmla="*/ 6967051 h 6967051"/>
              <a:gd name="connsiteX4" fmla="*/ 9130 w 1891090"/>
              <a:gd name="connsiteY4" fmla="*/ 67140 h 6967051"/>
              <a:gd name="connsiteX0" fmla="*/ 9130 w 1891090"/>
              <a:gd name="connsiteY0" fmla="*/ 67140 h 6967051"/>
              <a:gd name="connsiteX1" fmla="*/ 1891090 w 1891090"/>
              <a:gd name="connsiteY1" fmla="*/ 0 h 6967051"/>
              <a:gd name="connsiteX2" fmla="*/ 1891090 w 1891090"/>
              <a:gd name="connsiteY2" fmla="*/ 6929120 h 6967051"/>
              <a:gd name="connsiteX3" fmla="*/ 0 w 1891090"/>
              <a:gd name="connsiteY3" fmla="*/ 6967051 h 6967051"/>
              <a:gd name="connsiteX4" fmla="*/ 9130 w 1891090"/>
              <a:gd name="connsiteY4" fmla="*/ 67140 h 6967051"/>
              <a:gd name="connsiteX0" fmla="*/ 9130 w 1891090"/>
              <a:gd name="connsiteY0" fmla="*/ 57810 h 6967051"/>
              <a:gd name="connsiteX1" fmla="*/ 1891090 w 1891090"/>
              <a:gd name="connsiteY1" fmla="*/ 0 h 6967051"/>
              <a:gd name="connsiteX2" fmla="*/ 1891090 w 1891090"/>
              <a:gd name="connsiteY2" fmla="*/ 6929120 h 6967051"/>
              <a:gd name="connsiteX3" fmla="*/ 0 w 1891090"/>
              <a:gd name="connsiteY3" fmla="*/ 6967051 h 6967051"/>
              <a:gd name="connsiteX4" fmla="*/ 9130 w 1891090"/>
              <a:gd name="connsiteY4" fmla="*/ 57810 h 6967051"/>
              <a:gd name="connsiteX0" fmla="*/ 9130 w 1891090"/>
              <a:gd name="connsiteY0" fmla="*/ 57810 h 6967051"/>
              <a:gd name="connsiteX1" fmla="*/ 1891090 w 1891090"/>
              <a:gd name="connsiteY1" fmla="*/ 0 h 6967051"/>
              <a:gd name="connsiteX2" fmla="*/ 1891090 w 1891090"/>
              <a:gd name="connsiteY2" fmla="*/ 6929120 h 6967051"/>
              <a:gd name="connsiteX3" fmla="*/ 0 w 1891090"/>
              <a:gd name="connsiteY3" fmla="*/ 6967051 h 6967051"/>
              <a:gd name="connsiteX4" fmla="*/ 9130 w 1891090"/>
              <a:gd name="connsiteY4" fmla="*/ 57810 h 6967051"/>
              <a:gd name="connsiteX0" fmla="*/ 9130 w 1891090"/>
              <a:gd name="connsiteY0" fmla="*/ 57810 h 6967051"/>
              <a:gd name="connsiteX1" fmla="*/ 1891090 w 1891090"/>
              <a:gd name="connsiteY1" fmla="*/ 0 h 6967051"/>
              <a:gd name="connsiteX2" fmla="*/ 1891090 w 1891090"/>
              <a:gd name="connsiteY2" fmla="*/ 6929120 h 6967051"/>
              <a:gd name="connsiteX3" fmla="*/ 0 w 1891090"/>
              <a:gd name="connsiteY3" fmla="*/ 6967051 h 6967051"/>
              <a:gd name="connsiteX4" fmla="*/ 9130 w 1891090"/>
              <a:gd name="connsiteY4" fmla="*/ 57810 h 6967051"/>
              <a:gd name="connsiteX0" fmla="*/ 9130 w 1891090"/>
              <a:gd name="connsiteY0" fmla="*/ 57810 h 6967051"/>
              <a:gd name="connsiteX1" fmla="*/ 1891090 w 1891090"/>
              <a:gd name="connsiteY1" fmla="*/ 0 h 6967051"/>
              <a:gd name="connsiteX2" fmla="*/ 1891090 w 1891090"/>
              <a:gd name="connsiteY2" fmla="*/ 6929120 h 6967051"/>
              <a:gd name="connsiteX3" fmla="*/ 0 w 1891090"/>
              <a:gd name="connsiteY3" fmla="*/ 6967051 h 6967051"/>
              <a:gd name="connsiteX4" fmla="*/ 9130 w 1891090"/>
              <a:gd name="connsiteY4" fmla="*/ 57810 h 6967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91090" h="6967051">
                <a:moveTo>
                  <a:pt x="9130" y="57810"/>
                </a:moveTo>
                <a:lnTo>
                  <a:pt x="1891090" y="0"/>
                </a:lnTo>
                <a:lnTo>
                  <a:pt x="1891090" y="6929120"/>
                </a:lnTo>
                <a:lnTo>
                  <a:pt x="0" y="6967051"/>
                </a:lnTo>
                <a:cubicBezTo>
                  <a:pt x="40365" y="4676411"/>
                  <a:pt x="2273429" y="4718425"/>
                  <a:pt x="9130" y="57810"/>
                </a:cubicBezTo>
                <a:close/>
              </a:path>
            </a:pathLst>
          </a:custGeom>
          <a:solidFill>
            <a:schemeClr val="bg2"/>
          </a:solidFill>
          <a:ln>
            <a:gradFill flip="none" rotWithShape="1">
              <a:gsLst>
                <a:gs pos="0">
                  <a:schemeClr val="accent5">
                    <a:lumMod val="5000"/>
                    <a:lumOff val="95000"/>
                  </a:schemeClr>
                </a:gs>
                <a:gs pos="74000">
                  <a:schemeClr val="accent5">
                    <a:lumMod val="45000"/>
                    <a:lumOff val="55000"/>
                  </a:schemeClr>
                </a:gs>
                <a:gs pos="83000">
                  <a:schemeClr val="accent5">
                    <a:lumMod val="45000"/>
                    <a:lumOff val="55000"/>
                  </a:schemeClr>
                </a:gs>
                <a:gs pos="100000">
                  <a:schemeClr val="accent5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 useBgFill="1">
        <p:nvSpPr>
          <p:cNvPr id="12" name="Rectángulo 11">
            <a:extLst>
              <a:ext uri="{FF2B5EF4-FFF2-40B4-BE49-F238E27FC236}">
                <a16:creationId xmlns:a16="http://schemas.microsoft.com/office/drawing/2014/main" id="{0637D6BB-E596-B1B7-1AA3-96D3DAFF0D34}"/>
              </a:ext>
            </a:extLst>
          </p:cNvPr>
          <p:cNvSpPr/>
          <p:nvPr/>
        </p:nvSpPr>
        <p:spPr bwMode="white">
          <a:xfrm>
            <a:off x="0" y="0"/>
            <a:ext cx="1834682" cy="6858000"/>
          </a:xfrm>
          <a:custGeom>
            <a:avLst/>
            <a:gdLst>
              <a:gd name="connsiteX0" fmla="*/ 0 w 2236304"/>
              <a:gd name="connsiteY0" fmla="*/ 0 h 6858000"/>
              <a:gd name="connsiteX1" fmla="*/ 2236304 w 2236304"/>
              <a:gd name="connsiteY1" fmla="*/ 0 h 6858000"/>
              <a:gd name="connsiteX2" fmla="*/ 2236304 w 2236304"/>
              <a:gd name="connsiteY2" fmla="*/ 6858000 h 6858000"/>
              <a:gd name="connsiteX3" fmla="*/ 0 w 2236304"/>
              <a:gd name="connsiteY3" fmla="*/ 6858000 h 6858000"/>
              <a:gd name="connsiteX4" fmla="*/ 0 w 2236304"/>
              <a:gd name="connsiteY4" fmla="*/ 0 h 6858000"/>
              <a:gd name="connsiteX0" fmla="*/ 0 w 2236304"/>
              <a:gd name="connsiteY0" fmla="*/ 19878 h 6877878"/>
              <a:gd name="connsiteX1" fmla="*/ 417443 w 2236304"/>
              <a:gd name="connsiteY1" fmla="*/ 0 h 6877878"/>
              <a:gd name="connsiteX2" fmla="*/ 2236304 w 2236304"/>
              <a:gd name="connsiteY2" fmla="*/ 6877878 h 6877878"/>
              <a:gd name="connsiteX3" fmla="*/ 0 w 2236304"/>
              <a:gd name="connsiteY3" fmla="*/ 6877878 h 6877878"/>
              <a:gd name="connsiteX4" fmla="*/ 0 w 2236304"/>
              <a:gd name="connsiteY4" fmla="*/ 19878 h 6877878"/>
              <a:gd name="connsiteX0" fmla="*/ 0 w 2077278"/>
              <a:gd name="connsiteY0" fmla="*/ 19878 h 6877878"/>
              <a:gd name="connsiteX1" fmla="*/ 417443 w 2077278"/>
              <a:gd name="connsiteY1" fmla="*/ 0 h 6877878"/>
              <a:gd name="connsiteX2" fmla="*/ 2077278 w 2077278"/>
              <a:gd name="connsiteY2" fmla="*/ 6867939 h 6877878"/>
              <a:gd name="connsiteX3" fmla="*/ 0 w 2077278"/>
              <a:gd name="connsiteY3" fmla="*/ 6877878 h 6877878"/>
              <a:gd name="connsiteX4" fmla="*/ 0 w 2077278"/>
              <a:gd name="connsiteY4" fmla="*/ 19878 h 6877878"/>
              <a:gd name="connsiteX0" fmla="*/ 0 w 2077278"/>
              <a:gd name="connsiteY0" fmla="*/ 0 h 6858000"/>
              <a:gd name="connsiteX1" fmla="*/ 1798373 w 2077278"/>
              <a:gd name="connsiteY1" fmla="*/ 8113 h 6858000"/>
              <a:gd name="connsiteX2" fmla="*/ 2077278 w 2077278"/>
              <a:gd name="connsiteY2" fmla="*/ 6848061 h 6858000"/>
              <a:gd name="connsiteX3" fmla="*/ 0 w 2077278"/>
              <a:gd name="connsiteY3" fmla="*/ 6858000 h 6858000"/>
              <a:gd name="connsiteX4" fmla="*/ 0 w 2077278"/>
              <a:gd name="connsiteY4" fmla="*/ 0 h 6858000"/>
              <a:gd name="connsiteX0" fmla="*/ 0 w 1834682"/>
              <a:gd name="connsiteY0" fmla="*/ 0 h 6858000"/>
              <a:gd name="connsiteX1" fmla="*/ 1798373 w 1834682"/>
              <a:gd name="connsiteY1" fmla="*/ 8113 h 6858000"/>
              <a:gd name="connsiteX2" fmla="*/ 1834682 w 1834682"/>
              <a:gd name="connsiteY2" fmla="*/ 6838730 h 6858000"/>
              <a:gd name="connsiteX3" fmla="*/ 0 w 1834682"/>
              <a:gd name="connsiteY3" fmla="*/ 6858000 h 6858000"/>
              <a:gd name="connsiteX4" fmla="*/ 0 w 1834682"/>
              <a:gd name="connsiteY4" fmla="*/ 0 h 6858000"/>
              <a:gd name="connsiteX0" fmla="*/ 0 w 1834682"/>
              <a:gd name="connsiteY0" fmla="*/ 0 h 6858000"/>
              <a:gd name="connsiteX1" fmla="*/ 1798373 w 1834682"/>
              <a:gd name="connsiteY1" fmla="*/ 8113 h 6858000"/>
              <a:gd name="connsiteX2" fmla="*/ 1834682 w 1834682"/>
              <a:gd name="connsiteY2" fmla="*/ 6838730 h 6858000"/>
              <a:gd name="connsiteX3" fmla="*/ 0 w 1834682"/>
              <a:gd name="connsiteY3" fmla="*/ 6858000 h 6858000"/>
              <a:gd name="connsiteX4" fmla="*/ 0 w 183468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34682" h="6858000">
                <a:moveTo>
                  <a:pt x="0" y="0"/>
                </a:moveTo>
                <a:lnTo>
                  <a:pt x="1798373" y="8113"/>
                </a:lnTo>
                <a:cubicBezTo>
                  <a:pt x="1810476" y="2284985"/>
                  <a:pt x="-454091" y="4673826"/>
                  <a:pt x="1834682" y="6838730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gradFill flip="none" rotWithShape="1">
              <a:gsLst>
                <a:gs pos="0">
                  <a:schemeClr val="accent2">
                    <a:lumMod val="67000"/>
                  </a:schemeClr>
                </a:gs>
                <a:gs pos="48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55745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13F71-0DE0-DD04-162B-017C80927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s-BO" sz="5400" dirty="0">
                <a:solidFill>
                  <a:srgbClr val="56FA04"/>
                </a:solidFill>
                <a:latin typeface="Algerian" panose="04020705040A02060702" pitchFamily="82" charset="0"/>
              </a:rPr>
              <a:t>COSTOS DE EQUIPAMIENTO E INSUMOS</a:t>
            </a:r>
            <a:endParaRPr lang="es-ES" sz="5400" dirty="0">
              <a:solidFill>
                <a:srgbClr val="56FA04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7AFEC6-B9F6-B404-0959-191E24AA1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BO" dirty="0"/>
              <a:t>Control de costos para la implementación de laboratorios informáticos.</a:t>
            </a:r>
            <a:endParaRPr lang="es-ES" dirty="0"/>
          </a:p>
        </p:txBody>
      </p:sp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5A01D9C1-D1EC-A745-6F1B-CEF2812364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2961525"/>
              </p:ext>
            </p:extLst>
          </p:nvPr>
        </p:nvGraphicFramePr>
        <p:xfrm>
          <a:off x="1855960" y="3321698"/>
          <a:ext cx="8259902" cy="1530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3985083" imgH="738967" progId="Excel.Sheet.12">
                  <p:link updateAutomatic="1"/>
                </p:oleObj>
              </mc:Choice>
              <mc:Fallback>
                <p:oleObj name="Worksheet" r:id="rId3" imgW="3985083" imgH="738967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55960" y="3321698"/>
                        <a:ext cx="8259902" cy="15302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022690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DD10A6-6C56-1D15-92A0-622B059FC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BO" sz="5400" dirty="0">
                <a:solidFill>
                  <a:srgbClr val="56FA04"/>
                </a:solidFill>
                <a:latin typeface="Algerian" panose="04020705040A02060702" pitchFamily="82" charset="0"/>
              </a:rPr>
              <a:t>ATENCIÓN A CLIENTES</a:t>
            </a:r>
            <a:endParaRPr lang="es-ES" sz="5400" dirty="0">
              <a:solidFill>
                <a:srgbClr val="56FA04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26A52DB-0D42-33EE-6F1C-D405E1119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BO" sz="3200" dirty="0"/>
              <a:t>Escanea el código QR para abrir un ticket de soporte técnico en nuestra plataforma.</a:t>
            </a:r>
            <a:endParaRPr lang="es-ES" sz="32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B928FFF-0240-5F84-A961-BD1AF1EA94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7992" y="2819399"/>
            <a:ext cx="3163614" cy="3163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517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Escala de grises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2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0871C466-8068-4986-84E3-8DF0231E07FB}">
  <we:reference id="wa104379997" version="3.0.0.0" store="es-ES" storeType="OMEX"/>
  <we:alternateReferences>
    <we:reference id="wa104379997" version="3.0.0.0" store="es-E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9AD4E3CF-5E30-4705-B68B-79174E0A53DB}">
  <we:reference id="wa104051163" version="1.2.0.3" store="es-ES" storeType="OMEX"/>
  <we:alternateReferences>
    <we:reference id="wa104051163" version="1.2.0.3" store="es-E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135</TotalTime>
  <Words>120</Words>
  <Application>Microsoft Office PowerPoint</Application>
  <PresentationFormat>Panorámica</PresentationFormat>
  <Paragraphs>21</Paragraphs>
  <Slides>5</Slides>
  <Notes>2</Notes>
  <HiddenSlides>0</HiddenSlides>
  <MMClips>0</MMClips>
  <ScaleCrop>false</ScaleCrop>
  <HeadingPairs>
    <vt:vector size="8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Vínculos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2" baseType="lpstr">
      <vt:lpstr>Algerian</vt:lpstr>
      <vt:lpstr>Arial</vt:lpstr>
      <vt:lpstr>Bauhaus 93</vt:lpstr>
      <vt:lpstr>Calibri</vt:lpstr>
      <vt:lpstr>Calibri Light</vt:lpstr>
      <vt:lpstr>Tema de Office</vt:lpstr>
      <vt:lpstr>Libro1!Hoja1!F2C2:F5C4</vt:lpstr>
      <vt:lpstr>TECH SOLUTIONS INFRAESTRUCTURA Y SOFTWARE</vt:lpstr>
      <vt:lpstr>NUESTRAS ESPECIALIDADES</vt:lpstr>
      <vt:lpstr>SEGURIDAD E INTERCONEXIÓN DE SERVIDORES</vt:lpstr>
      <vt:lpstr>COSTOS DE EQUIPAMIENTO E INSUMOS</vt:lpstr>
      <vt:lpstr>ATENCIÓN A CLIENTES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 SOLUTIONS INFRAESTRUCTURA Y SOFTWARE</dc:title>
  <dc:creator>USUARIO</dc:creator>
  <cp:lastModifiedBy>USUARIO</cp:lastModifiedBy>
  <cp:revision>2</cp:revision>
  <dcterms:created xsi:type="dcterms:W3CDTF">2026-05-21T11:58:27Z</dcterms:created>
  <dcterms:modified xsi:type="dcterms:W3CDTF">2026-05-25T12:27:02Z</dcterms:modified>
</cp:coreProperties>
</file>